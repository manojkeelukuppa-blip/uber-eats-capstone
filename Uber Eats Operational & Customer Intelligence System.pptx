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bold r:id="rId25"/>
      <p:boldItalic r:id="rId26"/>
    </p:embeddedFont>
    <p:embeddedFont>
      <p:font typeface="Inter ExtraBold"/>
      <p:bold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ExtraBold-boldItalic.fntdata"/><Relationship Id="rId27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c8da0c508a7d907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7c8da0c508a7d907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c8da0c508a7d907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c8da0c508a7d907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7c8da0c508a7d907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7c8da0c508a7d907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7c8da0c508a7d907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7c8da0c508a7d907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7c8da0c508a7d907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7c8da0c508a7d907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7c8da0c508a7d907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7c8da0c508a7d907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7c8da0c508a7d907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7c8da0c508a7d907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7c8da0c508a7d907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7c8da0c508a7d907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7c8da0c508a7d907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7c8da0c508a7d907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7c8da0c508a7d907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7c8da0c508a7d907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7c8da0c508a7d907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7c8da0c508a7d907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7c8da0c508a7d907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h7c8da0c508a7d907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7c8da0c508a7d907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7c8da0c508a7d907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7c8da0c508a7d907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h7c8da0c508a7d907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h7c8da0c508a7d907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h7c8da0c508a7d907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c8da0c508a7d907_13_0)">
  <p:cSld name="Generated (h7c8da0c508a7d907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096250" y="4095750"/>
            <a:ext cx="476400" cy="476400"/>
            <a:chOff x="0" y="0"/>
            <a:chExt cx="476400" cy="4764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381000" y="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0" y="3810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381000" y="3810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381000" y="381000"/>
            <a:ext cx="3086100" cy="285900"/>
            <a:chOff x="0" y="0"/>
            <a:chExt cx="3086100" cy="2859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228600" y="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CAPSTONE </a:t>
              </a:r>
              <a:r>
                <a:rPr b="1" lang="en" sz="12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|</a:t>
              </a: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" name="Google Shape;64;p14"/>
          <p:cNvSpPr/>
          <p:nvPr/>
        </p:nvSpPr>
        <p:spPr>
          <a:xfrm>
            <a:off x="381000" y="1333500"/>
            <a:ext cx="381000" cy="38100"/>
          </a:xfrm>
          <a:prstGeom prst="rect">
            <a:avLst/>
          </a:prstGeom>
          <a:solidFill>
            <a:srgbClr val="00A3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81000" y="1524000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rPr>
              <a:t>CAPSTONE PROJECT PRESENTATION</a:t>
            </a:r>
            <a:endParaRPr b="1" sz="1200">
              <a:solidFill>
                <a:srgbClr val="00A3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81000" y="1905000"/>
            <a:ext cx="8096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Uber Eats Operational &amp;</a:t>
            </a:r>
            <a:endParaRPr b="1" sz="3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Customer Intelligence System</a:t>
            </a:r>
            <a:endParaRPr b="1" sz="3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81000" y="3429000"/>
            <a:ext cx="8382000" cy="9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381000" y="3667125"/>
            <a:ext cx="8382000" cy="1000125"/>
            <a:chOff x="0" y="0"/>
            <a:chExt cx="8382000" cy="1000125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0" y="0"/>
              <a:ext cx="1905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TOOLS UTILIZED</a:t>
              </a:r>
              <a:endParaRPr b="1" sz="10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0" y="238125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Python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Pandas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NumPy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Scikit-learn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NLTK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Statsmodels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Prophet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Matplotlib </a:t>
              </a: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b="0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Seaborn</a:t>
              </a:r>
              <a:endParaRPr b="0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381000" y="3048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Navigating Challenges in the Food Delivery Ecosystem</a:t>
            </a:r>
            <a:endParaRPr b="1" sz="1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381000" y="1190625"/>
            <a:ext cx="4000500" cy="3400425"/>
            <a:chOff x="381000" y="1190625"/>
            <a:chExt cx="4000500" cy="3400425"/>
          </a:xfrm>
        </p:grpSpPr>
        <p:sp>
          <p:nvSpPr>
            <p:cNvPr id="78" name="Google Shape;78;p15"/>
            <p:cNvSpPr txBox="1"/>
            <p:nvPr/>
          </p:nvSpPr>
          <p:spPr>
            <a:xfrm>
              <a:off x="381000" y="1190625"/>
              <a:ext cx="400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PROBLEM CONTEXT</a:t>
              </a:r>
              <a:endParaRPr b="1" sz="11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9" name="Google Shape;79;p15"/>
            <p:cNvGrpSpPr/>
            <p:nvPr/>
          </p:nvGrpSpPr>
          <p:grpSpPr>
            <a:xfrm>
              <a:off x="381000" y="1476375"/>
              <a:ext cx="4000500" cy="1047900"/>
              <a:chOff x="0" y="0"/>
              <a:chExt cx="4000500" cy="1047900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0" y="0"/>
                <a:ext cx="4000500" cy="1047900"/>
              </a:xfrm>
              <a:prstGeom prst="roundRect">
                <a:avLst>
                  <a:gd fmla="val 1818" name="adj"/>
                </a:avLst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0" y="0"/>
                <a:ext cx="114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228600" y="152400"/>
                <a:ext cx="3619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2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"Food delivery platforms face significant operational hurdles that directly impact profitability and user satisfaction."</a:t>
                </a:r>
                <a:endParaRPr b="0" i="1" sz="12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83" name="Google Shape;83;p15"/>
            <p:cNvSpPr txBox="1"/>
            <p:nvPr/>
          </p:nvSpPr>
          <p:spPr>
            <a:xfrm>
              <a:off x="381000" y="2686050"/>
              <a:ext cx="4000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Primary Business Challenges:</a:t>
              </a:r>
              <a:endParaRPr b="1" sz="10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0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Understanding erratic customer behavior</a:t>
              </a:r>
              <a:endParaRPr b="0" sz="11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0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Monitoring inconsistent restaurant performance</a:t>
              </a:r>
              <a:endParaRPr b="0" sz="11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0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Effectively managing user sentiment</a:t>
              </a:r>
              <a:endParaRPr b="0" sz="11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0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Accurate delivery time prediction</a:t>
              </a:r>
              <a:endParaRPr b="0" sz="11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150"/>
                <a:buFont typeface="Inter"/>
                <a:buChar char="●"/>
              </a:pPr>
              <a:r>
                <a:rPr b="0" lang="en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Precise demand forecasting</a:t>
              </a:r>
              <a:endParaRPr b="0" sz="11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4572000" y="1190625"/>
            <a:ext cx="4191000" cy="3381300"/>
            <a:chOff x="4572000" y="1190625"/>
            <a:chExt cx="4191000" cy="3381300"/>
          </a:xfrm>
        </p:grpSpPr>
        <p:sp>
          <p:nvSpPr>
            <p:cNvPr id="85" name="Google Shape;85;p15"/>
            <p:cNvSpPr/>
            <p:nvPr/>
          </p:nvSpPr>
          <p:spPr>
            <a:xfrm>
              <a:off x="4572000" y="1190625"/>
              <a:ext cx="4191000" cy="3381300"/>
            </a:xfrm>
            <a:prstGeom prst="roundRect">
              <a:avLst>
                <a:gd fmla="val 1126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4572000" y="1190625"/>
              <a:ext cx="4191000" cy="573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4876800" y="1476375"/>
              <a:ext cx="35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PROJECT GOAL</a:t>
              </a:r>
              <a:endParaRPr b="1" sz="13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4876800" y="1809750"/>
              <a:ext cx="381000" cy="192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4876800" y="2000250"/>
              <a:ext cx="35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 engineer a comprehensive intelligence system that addresses these challenges by transforming raw operational data into actionable business recommendations and optimized predictive models.</a:t>
              </a:r>
              <a:endParaRPr b="0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0" name="Google Shape;90;p15"/>
            <p:cNvGrpSpPr/>
            <p:nvPr/>
          </p:nvGrpSpPr>
          <p:grpSpPr>
            <a:xfrm>
              <a:off x="4876800" y="3190875"/>
              <a:ext cx="1714500" cy="1047900"/>
              <a:chOff x="0" y="0"/>
              <a:chExt cx="17145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1714500" cy="1047900"/>
              </a:xfrm>
              <a:prstGeom prst="roundRect">
                <a:avLst>
                  <a:gd fmla="val 1818" name="adj"/>
                </a:avLst>
              </a:prstGeom>
              <a:solidFill>
                <a:srgbClr val="1A1A1A"/>
              </a:solidFill>
              <a:ln cap="flat" cmpd="sng" w="9525">
                <a:solidFill>
                  <a:srgbClr val="2C2C2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0" y="0"/>
                <a:ext cx="38100" cy="10479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5"/>
              <p:cNvSpPr txBox="1"/>
              <p:nvPr/>
            </p:nvSpPr>
            <p:spPr>
              <a:xfrm>
                <a:off x="152400" y="152400"/>
                <a:ext cx="1447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0A355"/>
                    </a:solidFill>
                    <a:latin typeface="Inter"/>
                    <a:ea typeface="Inter"/>
                    <a:cs typeface="Inter"/>
                    <a:sym typeface="Inter"/>
                  </a:rPr>
                  <a:t>Core Output 01</a:t>
                </a:r>
                <a:endParaRPr b="1" sz="9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4F4F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Actionable Business Recommendations</a:t>
                </a:r>
                <a:endParaRPr b="0" sz="1050">
                  <a:solidFill>
                    <a:srgbClr val="F4F4F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94" name="Google Shape;94;p15"/>
            <p:cNvGrpSpPr/>
            <p:nvPr/>
          </p:nvGrpSpPr>
          <p:grpSpPr>
            <a:xfrm>
              <a:off x="6743700" y="3190875"/>
              <a:ext cx="1714500" cy="1047900"/>
              <a:chOff x="0" y="0"/>
              <a:chExt cx="1714500" cy="104790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0" y="0"/>
                <a:ext cx="1714500" cy="1047900"/>
              </a:xfrm>
              <a:prstGeom prst="roundRect">
                <a:avLst>
                  <a:gd fmla="val 1818" name="adj"/>
                </a:avLst>
              </a:prstGeom>
              <a:solidFill>
                <a:srgbClr val="1A1A1A"/>
              </a:solidFill>
              <a:ln cap="flat" cmpd="sng" w="9525">
                <a:solidFill>
                  <a:srgbClr val="2C2C2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0" y="0"/>
                <a:ext cx="38100" cy="10479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152400" y="152400"/>
                <a:ext cx="1447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0A355"/>
                    </a:solidFill>
                    <a:latin typeface="Inter"/>
                    <a:ea typeface="Inter"/>
                    <a:cs typeface="Inter"/>
                    <a:sym typeface="Inter"/>
                  </a:rPr>
                  <a:t>Core Output 02</a:t>
                </a:r>
                <a:endParaRPr b="1" sz="9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F4F4F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Optimized Predictive Models</a:t>
                </a:r>
                <a:endParaRPr b="0" sz="1050">
                  <a:solidFill>
                    <a:srgbClr val="F4F4F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98" name="Google Shape;98;p15"/>
          <p:cNvGrpSpPr/>
          <p:nvPr/>
        </p:nvGrpSpPr>
        <p:grpSpPr>
          <a:xfrm>
            <a:off x="381000" y="4619625"/>
            <a:ext cx="476400" cy="476400"/>
            <a:chOff x="0" y="0"/>
            <a:chExt cx="476400" cy="476400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381000" y="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0" y="3810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81000" y="3810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48000" y="0"/>
                  </a:moveTo>
                  <a:lnTo>
                    <a:pt x="72000" y="0"/>
                  </a:lnTo>
                  <a:lnTo>
                    <a:pt x="72000" y="120000"/>
                  </a:lnTo>
                  <a:lnTo>
                    <a:pt x="48000" y="120000"/>
                  </a:lnTo>
                  <a:close/>
                  <a:moveTo>
                    <a:pt x="0" y="48000"/>
                  </a:moveTo>
                  <a:lnTo>
                    <a:pt x="120000" y="48000"/>
                  </a:lnTo>
                  <a:lnTo>
                    <a:pt x="120000" y="72000"/>
                  </a:lnTo>
                  <a:lnTo>
                    <a:pt x="0" y="7200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6896100" y="38100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381000" y="381000"/>
            <a:ext cx="6096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Core Project Objectives for Operational Intelligence</a:t>
            </a:r>
            <a:endParaRPr b="1" sz="182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381000" y="1238250"/>
            <a:ext cx="83820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Generate comprehensive, realistic synthetic datasets representing platform operations.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Perform rigorous exploratory data analysis to uncover baseline metrics.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Execute customer and restaurant segmentation to identify key behavioral groups.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Conduct sentiment analysis on user reviews to extract qualitative insights.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Develop predictive models for accurate delivery time estimation.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Forecast hourly order demand to optimize resource allocation.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90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Integrate all models into a cohesive business recommendation framework.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362785" y="266700"/>
            <a:ext cx="8782050" cy="628800"/>
            <a:chOff x="381000" y="266700"/>
            <a:chExt cx="8782050" cy="628800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6686550" y="333375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381000" y="266700"/>
              <a:ext cx="590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6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Comprehensive Synthetic Dataset Architecture</a:t>
              </a:r>
              <a:endParaRPr b="1" sz="186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81000" y="87630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381000" y="1095375"/>
            <a:ext cx="3619500" cy="3143400"/>
            <a:chOff x="0" y="0"/>
            <a:chExt cx="3619500" cy="3143400"/>
          </a:xfrm>
        </p:grpSpPr>
        <p:grpSp>
          <p:nvGrpSpPr>
            <p:cNvPr id="120" name="Google Shape;120;p17"/>
            <p:cNvGrpSpPr/>
            <p:nvPr/>
          </p:nvGrpSpPr>
          <p:grpSpPr>
            <a:xfrm>
              <a:off x="0" y="0"/>
              <a:ext cx="3619500" cy="1381200"/>
              <a:chOff x="0" y="0"/>
              <a:chExt cx="3619500" cy="1381200"/>
            </a:xfrm>
          </p:grpSpPr>
          <p:sp>
            <p:nvSpPr>
              <p:cNvPr id="121" name="Google Shape;121;p17"/>
              <p:cNvSpPr/>
              <p:nvPr/>
            </p:nvSpPr>
            <p:spPr>
              <a:xfrm>
                <a:off x="0" y="0"/>
                <a:ext cx="3619500" cy="13812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7"/>
              <p:cNvSpPr/>
              <p:nvPr/>
            </p:nvSpPr>
            <p:spPr>
              <a:xfrm>
                <a:off x="0" y="0"/>
                <a:ext cx="38100" cy="13812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7"/>
              <p:cNvSpPr txBox="1"/>
              <p:nvPr/>
            </p:nvSpPr>
            <p:spPr>
              <a:xfrm>
                <a:off x="190500" y="152400"/>
                <a:ext cx="3238500" cy="10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25">
                    <a:solidFill>
                      <a:srgbClr val="00A355"/>
                    </a:solidFill>
                    <a:latin typeface="Inter"/>
                    <a:ea typeface="Inter"/>
                    <a:cs typeface="Inter"/>
                    <a:sym typeface="Inter"/>
                  </a:rPr>
                  <a:t>DATA INFRASTRUCTURE</a:t>
                </a:r>
                <a:endParaRPr b="1" sz="925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333333"/>
                    </a:solidFill>
                    <a:latin typeface="Inter"/>
                    <a:ea typeface="Inter"/>
                    <a:cs typeface="Inter"/>
                    <a:sym typeface="Inter"/>
                  </a:rPr>
                  <a:t>To simulate a real-world platform environment, we engineered a robust data infrastructure comprising 19,287 total records. This data is distributed across seven distinct synthetic datasets, capturing every critical facet of the delivery lifecycle.</a:t>
                </a:r>
                <a:endParaRPr b="0" sz="1018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4" name="Google Shape;124;p17"/>
            <p:cNvGrpSpPr/>
            <p:nvPr/>
          </p:nvGrpSpPr>
          <p:grpSpPr>
            <a:xfrm>
              <a:off x="0" y="1571625"/>
              <a:ext cx="3619500" cy="1171650"/>
              <a:chOff x="0" y="0"/>
              <a:chExt cx="3619500" cy="1171650"/>
            </a:xfrm>
          </p:grpSpPr>
          <p:sp>
            <p:nvSpPr>
              <p:cNvPr id="125" name="Google Shape;125;p17"/>
              <p:cNvSpPr txBox="1"/>
              <p:nvPr/>
            </p:nvSpPr>
            <p:spPr>
              <a:xfrm>
                <a:off x="0" y="0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570">
                    <a:solidFill>
                      <a:srgbClr val="11111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19,287</a:t>
                </a:r>
                <a:endParaRPr b="0" sz="357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0" y="628650"/>
                <a:ext cx="476400" cy="285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7"/>
              <p:cNvSpPr txBox="1"/>
              <p:nvPr/>
            </p:nvSpPr>
            <p:spPr>
              <a:xfrm>
                <a:off x="0" y="742950"/>
                <a:ext cx="3619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TOTAL SYNTHETIC RECORDS</a:t>
                </a:r>
                <a:endParaRPr b="1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7 Interconnected Core Datasets</a:t>
                </a:r>
                <a:endParaRPr b="0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8" name="Google Shape;128;p17"/>
            <p:cNvGrpSpPr/>
            <p:nvPr/>
          </p:nvGrpSpPr>
          <p:grpSpPr>
            <a:xfrm>
              <a:off x="0" y="2667000"/>
              <a:ext cx="476400" cy="476400"/>
              <a:chOff x="0" y="0"/>
              <a:chExt cx="476400" cy="476400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0" y="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381000" y="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0" y="38100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7"/>
              <p:cNvSpPr/>
              <p:nvPr/>
            </p:nvSpPr>
            <p:spPr>
              <a:xfrm>
                <a:off x="381000" y="38100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" name="Google Shape;133;p17"/>
          <p:cNvGrpSpPr/>
          <p:nvPr/>
        </p:nvGrpSpPr>
        <p:grpSpPr>
          <a:xfrm>
            <a:off x="4381500" y="1095375"/>
            <a:ext cx="4381575" cy="3114675"/>
            <a:chOff x="4381500" y="1095375"/>
            <a:chExt cx="4381575" cy="3114675"/>
          </a:xfrm>
        </p:grpSpPr>
        <p:grpSp>
          <p:nvGrpSpPr>
            <p:cNvPr id="134" name="Google Shape;134;p17"/>
            <p:cNvGrpSpPr/>
            <p:nvPr/>
          </p:nvGrpSpPr>
          <p:grpSpPr>
            <a:xfrm>
              <a:off x="4381500" y="1095375"/>
              <a:ext cx="2047800" cy="685800"/>
              <a:chOff x="0" y="0"/>
              <a:chExt cx="2047800" cy="6858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0" y="0"/>
                <a:ext cx="20478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133350" y="95250"/>
                <a:ext cx="1476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Customers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User demographics and account details.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166687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01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9" name="Google Shape;139;p17"/>
            <p:cNvGrpSpPr/>
            <p:nvPr/>
          </p:nvGrpSpPr>
          <p:grpSpPr>
            <a:xfrm>
              <a:off x="4381500" y="1905000"/>
              <a:ext cx="2047800" cy="685800"/>
              <a:chOff x="0" y="0"/>
              <a:chExt cx="2047800" cy="685800"/>
            </a:xfrm>
          </p:grpSpPr>
          <p:sp>
            <p:nvSpPr>
              <p:cNvPr id="140" name="Google Shape;140;p17"/>
              <p:cNvSpPr/>
              <p:nvPr/>
            </p:nvSpPr>
            <p:spPr>
              <a:xfrm>
                <a:off x="0" y="0"/>
                <a:ext cx="20478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 txBox="1"/>
              <p:nvPr/>
            </p:nvSpPr>
            <p:spPr>
              <a:xfrm>
                <a:off x="133350" y="95250"/>
                <a:ext cx="1476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Restaurants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Vendor profiles and operational metrics.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" name="Google Shape;143;p17"/>
              <p:cNvSpPr txBox="1"/>
              <p:nvPr/>
            </p:nvSpPr>
            <p:spPr>
              <a:xfrm>
                <a:off x="166687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02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4" name="Google Shape;144;p17"/>
            <p:cNvGrpSpPr/>
            <p:nvPr/>
          </p:nvGrpSpPr>
          <p:grpSpPr>
            <a:xfrm>
              <a:off x="4381500" y="2714625"/>
              <a:ext cx="2047800" cy="685800"/>
              <a:chOff x="0" y="0"/>
              <a:chExt cx="2047800" cy="685800"/>
            </a:xfrm>
          </p:grpSpPr>
          <p:sp>
            <p:nvSpPr>
              <p:cNvPr id="145" name="Google Shape;145;p17"/>
              <p:cNvSpPr/>
              <p:nvPr/>
            </p:nvSpPr>
            <p:spPr>
              <a:xfrm>
                <a:off x="0" y="0"/>
                <a:ext cx="20478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 txBox="1"/>
              <p:nvPr/>
            </p:nvSpPr>
            <p:spPr>
              <a:xfrm>
                <a:off x="133350" y="95250"/>
                <a:ext cx="1476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Drivers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Delivery partner statistics and availability.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17"/>
              <p:cNvSpPr txBox="1"/>
              <p:nvPr/>
            </p:nvSpPr>
            <p:spPr>
              <a:xfrm>
                <a:off x="166687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03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9" name="Google Shape;149;p17"/>
            <p:cNvGrpSpPr/>
            <p:nvPr/>
          </p:nvGrpSpPr>
          <p:grpSpPr>
            <a:xfrm>
              <a:off x="4381500" y="3524250"/>
              <a:ext cx="2047800" cy="685800"/>
              <a:chOff x="0" y="0"/>
              <a:chExt cx="2047800" cy="685800"/>
            </a:xfrm>
          </p:grpSpPr>
          <p:sp>
            <p:nvSpPr>
              <p:cNvPr id="150" name="Google Shape;150;p17"/>
              <p:cNvSpPr/>
              <p:nvPr/>
            </p:nvSpPr>
            <p:spPr>
              <a:xfrm>
                <a:off x="0" y="0"/>
                <a:ext cx="20478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7"/>
              <p:cNvSpPr txBox="1"/>
              <p:nvPr/>
            </p:nvSpPr>
            <p:spPr>
              <a:xfrm>
                <a:off x="133350" y="95250"/>
                <a:ext cx="14763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Orders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Transactional data and cart contents.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17"/>
              <p:cNvSpPr txBox="1"/>
              <p:nvPr/>
            </p:nvSpPr>
            <p:spPr>
              <a:xfrm>
                <a:off x="166687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04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4" name="Google Shape;154;p17"/>
            <p:cNvGrpSpPr/>
            <p:nvPr/>
          </p:nvGrpSpPr>
          <p:grpSpPr>
            <a:xfrm>
              <a:off x="6619875" y="1095375"/>
              <a:ext cx="2143200" cy="685800"/>
              <a:chOff x="0" y="0"/>
              <a:chExt cx="2143200" cy="685800"/>
            </a:xfrm>
          </p:grpSpPr>
          <p:sp>
            <p:nvSpPr>
              <p:cNvPr id="155" name="Google Shape;155;p17"/>
              <p:cNvSpPr/>
              <p:nvPr/>
            </p:nvSpPr>
            <p:spPr>
              <a:xfrm>
                <a:off x="0" y="0"/>
                <a:ext cx="21432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7"/>
              <p:cNvSpPr txBox="1"/>
              <p:nvPr/>
            </p:nvSpPr>
            <p:spPr>
              <a:xfrm>
                <a:off x="133350" y="95250"/>
                <a:ext cx="15717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Deliveries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Logistics tracking and timestamp data.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17"/>
              <p:cNvSpPr txBox="1"/>
              <p:nvPr/>
            </p:nvSpPr>
            <p:spPr>
              <a:xfrm>
                <a:off x="176212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05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9" name="Google Shape;159;p17"/>
            <p:cNvGrpSpPr/>
            <p:nvPr/>
          </p:nvGrpSpPr>
          <p:grpSpPr>
            <a:xfrm>
              <a:off x="6619875" y="1905000"/>
              <a:ext cx="2143200" cy="685800"/>
              <a:chOff x="0" y="0"/>
              <a:chExt cx="2143200" cy="685800"/>
            </a:xfrm>
          </p:grpSpPr>
          <p:sp>
            <p:nvSpPr>
              <p:cNvPr id="160" name="Google Shape;160;p17"/>
              <p:cNvSpPr/>
              <p:nvPr/>
            </p:nvSpPr>
            <p:spPr>
              <a:xfrm>
                <a:off x="0" y="0"/>
                <a:ext cx="21432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133350" y="95250"/>
                <a:ext cx="15717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Reviews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Customer feedback and textual ratings.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76212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06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4" name="Google Shape;164;p17"/>
            <p:cNvGrpSpPr/>
            <p:nvPr/>
          </p:nvGrpSpPr>
          <p:grpSpPr>
            <a:xfrm>
              <a:off x="6619875" y="2714625"/>
              <a:ext cx="2143200" cy="685800"/>
              <a:chOff x="0" y="0"/>
              <a:chExt cx="2143200" cy="685800"/>
            </a:xfrm>
          </p:grpSpPr>
          <p:sp>
            <p:nvSpPr>
              <p:cNvPr id="165" name="Google Shape;165;p17"/>
              <p:cNvSpPr/>
              <p:nvPr/>
            </p:nvSpPr>
            <p:spPr>
              <a:xfrm>
                <a:off x="0" y="0"/>
                <a:ext cx="2143200" cy="6858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7"/>
              <p:cNvSpPr txBox="1"/>
              <p:nvPr/>
            </p:nvSpPr>
            <p:spPr>
              <a:xfrm>
                <a:off x="133350" y="95250"/>
                <a:ext cx="15717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Payments</a:t>
                </a:r>
                <a:endParaRPr b="1" sz="11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Financial transactions and payment methods.</a:t>
                </a:r>
                <a:endParaRPr b="0" sz="9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1762125" y="762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A0A0A5"/>
                    </a:solidFill>
                    <a:latin typeface="Inter"/>
                    <a:ea typeface="Inter"/>
                    <a:cs typeface="Inter"/>
                    <a:sym typeface="Inter"/>
                  </a:rPr>
                  <a:t>07</a:t>
                </a:r>
                <a:endParaRPr b="1" sz="950">
                  <a:solidFill>
                    <a:srgbClr val="A0A0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9" name="Google Shape;169;p17"/>
            <p:cNvGrpSpPr/>
            <p:nvPr/>
          </p:nvGrpSpPr>
          <p:grpSpPr>
            <a:xfrm>
              <a:off x="6619875" y="3524250"/>
              <a:ext cx="2143200" cy="685800"/>
              <a:chOff x="0" y="0"/>
              <a:chExt cx="2143200" cy="685800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0" y="0"/>
                <a:ext cx="2143200" cy="6858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0" y="0"/>
                <a:ext cx="38100" cy="6858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133350" y="114300"/>
                <a:ext cx="1857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25">
                    <a:solidFill>
                      <a:srgbClr val="00A355"/>
                    </a:solidFill>
                    <a:latin typeface="Inter"/>
                    <a:ea typeface="Inter"/>
                    <a:cs typeface="Inter"/>
                    <a:sym typeface="Inter"/>
                  </a:rPr>
                  <a:t>SYNTHETIC DATA PIPELINE</a:t>
                </a:r>
                <a:endParaRPr b="1" sz="925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CCCCCC"/>
                    </a:solidFill>
                    <a:latin typeface="Inter"/>
                    <a:ea typeface="Inter"/>
                    <a:cs typeface="Inter"/>
                    <a:sym typeface="Inter"/>
                  </a:rPr>
                  <a:t>Relational schema with full transactional integrity.</a:t>
                </a:r>
                <a:endParaRPr b="0" sz="833">
                  <a:solidFill>
                    <a:srgbClr val="CCCCC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381000" y="342900"/>
            <a:ext cx="6096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4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 Preparation and Exploratory Data Analysis</a:t>
            </a:r>
            <a:endParaRPr b="1" sz="204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81000" y="93345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81000" y="1123950"/>
            <a:ext cx="8382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13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Rigorous data quality checks were performed to ensure model readiness, resulting in </a:t>
            </a:r>
            <a:r>
              <a:rPr b="1" lang="en" sz="13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zero missing values</a:t>
            </a:r>
            <a:r>
              <a:rPr b="0" lang="en" sz="13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lang="en" sz="13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zero duplicate records</a:t>
            </a:r>
            <a:r>
              <a:rPr b="0" lang="en" sz="13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across the entire database.</a:t>
            </a:r>
            <a:endParaRPr b="0" sz="135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0" name="Google Shape;180;p18"/>
          <p:cNvGrpSpPr/>
          <p:nvPr/>
        </p:nvGrpSpPr>
        <p:grpSpPr>
          <a:xfrm>
            <a:off x="381000" y="1809750"/>
            <a:ext cx="2571900" cy="1838475"/>
            <a:chOff x="0" y="0"/>
            <a:chExt cx="2571900" cy="1838475"/>
          </a:xfrm>
        </p:grpSpPr>
        <p:sp>
          <p:nvSpPr>
            <p:cNvPr id="181" name="Google Shape;181;p18"/>
            <p:cNvSpPr txBox="1"/>
            <p:nvPr/>
          </p:nvSpPr>
          <p:spPr>
            <a:xfrm>
              <a:off x="0" y="0"/>
              <a:ext cx="2571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85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44.25</a:t>
              </a:r>
              <a:r>
                <a:rPr b="0" lang="en" sz="185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yrs</a:t>
              </a:r>
              <a:endParaRPr b="0" sz="3885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0" y="666750"/>
              <a:ext cx="381000" cy="285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0" y="790575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Customer Demographics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2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The average customer age on the platform is 44.25 years.</a:t>
              </a:r>
              <a:endParaRPr b="0" sz="12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3286125" y="1809750"/>
            <a:ext cx="2571900" cy="1838475"/>
            <a:chOff x="0" y="0"/>
            <a:chExt cx="2571900" cy="1838475"/>
          </a:xfrm>
        </p:grpSpPr>
        <p:sp>
          <p:nvSpPr>
            <p:cNvPr id="185" name="Google Shape;185;p18"/>
            <p:cNvSpPr txBox="1"/>
            <p:nvPr/>
          </p:nvSpPr>
          <p:spPr>
            <a:xfrm>
              <a:off x="0" y="0"/>
              <a:ext cx="2571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85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4.02</a:t>
              </a:r>
              <a:r>
                <a:rPr b="0" lang="en" sz="185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/ 5</a:t>
              </a:r>
              <a:endParaRPr b="0" sz="3885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0" y="666750"/>
              <a:ext cx="381000" cy="285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0" y="790575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Platform Satisfaction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2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The average overall rating stands at a solid 4.02 out of 5.</a:t>
              </a:r>
              <a:endParaRPr b="0" sz="12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8" name="Google Shape;188;p18"/>
          <p:cNvGrpSpPr/>
          <p:nvPr/>
        </p:nvGrpSpPr>
        <p:grpSpPr>
          <a:xfrm>
            <a:off x="6191250" y="1809750"/>
            <a:ext cx="2571900" cy="1838475"/>
            <a:chOff x="0" y="0"/>
            <a:chExt cx="2571900" cy="1838475"/>
          </a:xfrm>
        </p:grpSpPr>
        <p:sp>
          <p:nvSpPr>
            <p:cNvPr id="189" name="Google Shape;189;p18"/>
            <p:cNvSpPr txBox="1"/>
            <p:nvPr/>
          </p:nvSpPr>
          <p:spPr>
            <a:xfrm>
              <a:off x="0" y="0"/>
              <a:ext cx="2571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85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50.68</a:t>
              </a:r>
              <a:r>
                <a:rPr b="0" lang="en" sz="1850">
                  <a:solidFill>
                    <a:srgbClr val="5555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min</a:t>
              </a:r>
              <a:endParaRPr b="0" sz="3885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0" y="666750"/>
              <a:ext cx="381000" cy="285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0" y="790575"/>
              <a:ext cx="257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Logistics Performance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25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The average delivery time across all orders is 50.68 minutes.</a:t>
              </a:r>
              <a:endParaRPr b="0" sz="12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381000" y="3952875"/>
            <a:ext cx="8382000" cy="714300"/>
            <a:chOff x="0" y="0"/>
            <a:chExt cx="8382000" cy="7143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0" y="0"/>
              <a:ext cx="57300" cy="7143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266700" y="0"/>
              <a:ext cx="78867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These baseline metrics provided the foundation for our advanced predictive modeling phases.</a:t>
              </a:r>
              <a:endParaRPr b="0" sz="1350">
                <a:solidFill>
                  <a:srgbClr val="11111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9"/>
          <p:cNvGrpSpPr/>
          <p:nvPr/>
        </p:nvGrpSpPr>
        <p:grpSpPr>
          <a:xfrm>
            <a:off x="381000" y="381000"/>
            <a:ext cx="8382000" cy="590700"/>
            <a:chOff x="381000" y="381000"/>
            <a:chExt cx="8382000" cy="590700"/>
          </a:xfrm>
        </p:grpSpPr>
        <p:sp>
          <p:nvSpPr>
            <p:cNvPr id="201" name="Google Shape;201;p19"/>
            <p:cNvSpPr txBox="1"/>
            <p:nvPr/>
          </p:nvSpPr>
          <p:spPr>
            <a:xfrm>
              <a:off x="6134100" y="381000"/>
              <a:ext cx="26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381000" y="95250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9"/>
          <p:cNvSpPr txBox="1"/>
          <p:nvPr/>
        </p:nvSpPr>
        <p:spPr>
          <a:xfrm>
            <a:off x="381000" y="381000"/>
            <a:ext cx="533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Strategic Customer and Restaurant Segmentation</a:t>
            </a:r>
            <a:endParaRPr b="1" sz="1625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381000" y="1143000"/>
            <a:ext cx="8382000" cy="514500"/>
            <a:chOff x="0" y="0"/>
            <a:chExt cx="8382000" cy="514500"/>
          </a:xfrm>
        </p:grpSpPr>
        <p:sp>
          <p:nvSpPr>
            <p:cNvPr id="205" name="Google Shape;205;p19"/>
            <p:cNvSpPr/>
            <p:nvPr/>
          </p:nvSpPr>
          <p:spPr>
            <a:xfrm>
              <a:off x="0" y="0"/>
              <a:ext cx="8382000" cy="5145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0" y="0"/>
              <a:ext cx="57300" cy="5145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228600" y="142875"/>
              <a:ext cx="79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We applied </a:t>
              </a:r>
              <a:r>
                <a:rPr b="1" lang="en" sz="120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K-Means clustering</a:t>
              </a:r>
              <a:r>
                <a:rPr b="0" lang="en" sz="120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to identify distinct operational profiles, validated by robust silhouette scores.</a:t>
              </a:r>
              <a:endParaRPr b="0" sz="1203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81000" y="1905000"/>
            <a:ext cx="8382000" cy="2857500"/>
            <a:chOff x="0" y="0"/>
            <a:chExt cx="8382000" cy="2857500"/>
          </a:xfrm>
        </p:grpSpPr>
        <p:grpSp>
          <p:nvGrpSpPr>
            <p:cNvPr id="209" name="Google Shape;209;p19"/>
            <p:cNvGrpSpPr/>
            <p:nvPr/>
          </p:nvGrpSpPr>
          <p:grpSpPr>
            <a:xfrm>
              <a:off x="0" y="0"/>
              <a:ext cx="4000500" cy="2857500"/>
              <a:chOff x="0" y="0"/>
              <a:chExt cx="4000500" cy="2857500"/>
            </a:xfrm>
          </p:grpSpPr>
          <p:sp>
            <p:nvSpPr>
              <p:cNvPr id="210" name="Google Shape;210;p19"/>
              <p:cNvSpPr/>
              <p:nvPr/>
            </p:nvSpPr>
            <p:spPr>
              <a:xfrm>
                <a:off x="0" y="0"/>
                <a:ext cx="4000500" cy="2857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9"/>
              <p:cNvSpPr/>
              <p:nvPr/>
            </p:nvSpPr>
            <p:spPr>
              <a:xfrm>
                <a:off x="0" y="0"/>
                <a:ext cx="4000500" cy="381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9"/>
              <p:cNvSpPr txBox="1"/>
              <p:nvPr/>
            </p:nvSpPr>
            <p:spPr>
              <a:xfrm>
                <a:off x="228600" y="228600"/>
                <a:ext cx="3543300" cy="24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Customer Segmentation </a:t>
                </a:r>
                <a:r>
                  <a:rPr b="0" lang="en" sz="1400">
                    <a:solidFill>
                      <a:srgbClr val="00A3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(2 Clusters)</a:t>
                </a:r>
                <a:endParaRPr b="1" sz="16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1200"/>
                  </a:spcBef>
                  <a:spcAft>
                    <a:spcPts val="900"/>
                  </a:spcAft>
                  <a:buClr>
                    <a:srgbClr val="111111"/>
                  </a:buClr>
                  <a:buSzPts val="1400"/>
                  <a:buFont typeface="Inter"/>
                  <a:buChar char="●"/>
                </a:pP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Separated users based on order frequency and revenue generation, allowing for targeted retention strategies.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3" name="Google Shape;213;p19"/>
            <p:cNvGrpSpPr/>
            <p:nvPr/>
          </p:nvGrpSpPr>
          <p:grpSpPr>
            <a:xfrm>
              <a:off x="4381500" y="0"/>
              <a:ext cx="4000500" cy="2857500"/>
              <a:chOff x="0" y="0"/>
              <a:chExt cx="4000500" cy="2857500"/>
            </a:xfrm>
          </p:grpSpPr>
          <p:sp>
            <p:nvSpPr>
              <p:cNvPr id="214" name="Google Shape;214;p19"/>
              <p:cNvSpPr/>
              <p:nvPr/>
            </p:nvSpPr>
            <p:spPr>
              <a:xfrm>
                <a:off x="0" y="0"/>
                <a:ext cx="4000500" cy="2857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9"/>
              <p:cNvSpPr/>
              <p:nvPr/>
            </p:nvSpPr>
            <p:spPr>
              <a:xfrm>
                <a:off x="0" y="0"/>
                <a:ext cx="4000500" cy="381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9"/>
              <p:cNvSpPr txBox="1"/>
              <p:nvPr/>
            </p:nvSpPr>
            <p:spPr>
              <a:xfrm>
                <a:off x="228600" y="228600"/>
                <a:ext cx="3543300" cy="24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Restaurant Segmentation </a:t>
                </a:r>
                <a:r>
                  <a:rPr b="0" lang="en" sz="1295">
                    <a:solidFill>
                      <a:srgbClr val="00A3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(2 Clusters)</a:t>
                </a:r>
                <a:endParaRPr b="1" sz="148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111111"/>
                  </a:buClr>
                  <a:buSzPts val="1295"/>
                  <a:buFont typeface="Inter"/>
                  <a:buChar char="●"/>
                </a:pPr>
                <a:r>
                  <a:rPr b="0" lang="en" sz="1295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Categorized vendors by analyzing preparation times, delivery efficiency, and total revenue.</a:t>
                </a:r>
                <a:endParaRPr b="0" sz="129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0833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111111"/>
                  </a:buClr>
                  <a:buSzPts val="1295"/>
                  <a:buFont typeface="Inter"/>
                  <a:buChar char="●"/>
                </a:pPr>
                <a:r>
                  <a:rPr b="0" lang="en" sz="1295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Identified high-performing establishments versus those requiring operational support to improve delivery speed and customer satisfaction.</a:t>
                </a:r>
                <a:endParaRPr b="0" sz="129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381000" y="381000"/>
            <a:ext cx="533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1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Customer Sentiment Analysis Using NLP</a:t>
            </a:r>
            <a:endParaRPr b="1" sz="2015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381000" y="1238250"/>
            <a:ext cx="3905400" cy="2133600"/>
            <a:chOff x="0" y="0"/>
            <a:chExt cx="3905400" cy="2133600"/>
          </a:xfrm>
        </p:grpSpPr>
        <p:sp>
          <p:nvSpPr>
            <p:cNvPr id="224" name="Google Shape;224;p20"/>
            <p:cNvSpPr txBox="1"/>
            <p:nvPr/>
          </p:nvSpPr>
          <p:spPr>
            <a:xfrm>
              <a:off x="0" y="0"/>
              <a:ext cx="3905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We evaluated TF-IDF with Multinomial Naive Bayes against VADER for sentiment classification on customer reviews.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0" y="857250"/>
              <a:ext cx="3905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Overall Sentiment Distribution</a:t>
              </a:r>
              <a:endParaRPr b="1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6" name="Google Shape;226;p20"/>
            <p:cNvGrpSpPr/>
            <p:nvPr/>
          </p:nvGrpSpPr>
          <p:grpSpPr>
            <a:xfrm>
              <a:off x="0" y="1238250"/>
              <a:ext cx="3905250" cy="228600"/>
              <a:chOff x="0" y="0"/>
              <a:chExt cx="3905250" cy="228600"/>
            </a:xfrm>
          </p:grpSpPr>
          <p:sp>
            <p:nvSpPr>
              <p:cNvPr id="227" name="Google Shape;227;p20"/>
              <p:cNvSpPr txBox="1"/>
              <p:nvPr/>
            </p:nvSpPr>
            <p:spPr>
              <a:xfrm>
                <a:off x="0" y="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Positive</a:t>
                </a:r>
                <a:endParaRPr b="0" sz="14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1143000" y="38100"/>
                <a:ext cx="1905000" cy="1335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0"/>
              <p:cNvSpPr/>
              <p:nvPr/>
            </p:nvSpPr>
            <p:spPr>
              <a:xfrm>
                <a:off x="1143000" y="38100"/>
                <a:ext cx="1318500" cy="1335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0"/>
              <p:cNvSpPr txBox="1"/>
              <p:nvPr/>
            </p:nvSpPr>
            <p:spPr>
              <a:xfrm>
                <a:off x="3143250" y="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0A355"/>
                    </a:solidFill>
                    <a:latin typeface="Inter"/>
                    <a:ea typeface="Inter"/>
                    <a:cs typeface="Inter"/>
                    <a:sym typeface="Inter"/>
                  </a:rPr>
                  <a:t>69.21%</a:t>
                </a:r>
                <a:endParaRPr b="1" sz="14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1" name="Google Shape;231;p20"/>
            <p:cNvGrpSpPr/>
            <p:nvPr/>
          </p:nvGrpSpPr>
          <p:grpSpPr>
            <a:xfrm>
              <a:off x="0" y="1571625"/>
              <a:ext cx="3905250" cy="228600"/>
              <a:chOff x="0" y="0"/>
              <a:chExt cx="3905250" cy="228600"/>
            </a:xfrm>
          </p:grpSpPr>
          <p:sp>
            <p:nvSpPr>
              <p:cNvPr id="232" name="Google Shape;232;p20"/>
              <p:cNvSpPr txBox="1"/>
              <p:nvPr/>
            </p:nvSpPr>
            <p:spPr>
              <a:xfrm>
                <a:off x="0" y="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Neutral</a:t>
                </a:r>
                <a:endParaRPr b="0" sz="14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33" name="Google Shape;233;p20"/>
              <p:cNvSpPr/>
              <p:nvPr/>
            </p:nvSpPr>
            <p:spPr>
              <a:xfrm>
                <a:off x="1143000" y="38100"/>
                <a:ext cx="1905000" cy="1335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0"/>
              <p:cNvSpPr/>
              <p:nvPr/>
            </p:nvSpPr>
            <p:spPr>
              <a:xfrm>
                <a:off x="1143000" y="38100"/>
                <a:ext cx="324300" cy="133500"/>
              </a:xfrm>
              <a:prstGeom prst="rect">
                <a:avLst/>
              </a:prstGeom>
              <a:solidFill>
                <a:srgbClr val="5555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0"/>
              <p:cNvSpPr txBox="1"/>
              <p:nvPr/>
            </p:nvSpPr>
            <p:spPr>
              <a:xfrm>
                <a:off x="3143250" y="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17.02%</a:t>
                </a:r>
                <a:endParaRPr b="1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6" name="Google Shape;236;p20"/>
            <p:cNvGrpSpPr/>
            <p:nvPr/>
          </p:nvGrpSpPr>
          <p:grpSpPr>
            <a:xfrm>
              <a:off x="0" y="1905000"/>
              <a:ext cx="3905250" cy="228600"/>
              <a:chOff x="0" y="0"/>
              <a:chExt cx="3905250" cy="228600"/>
            </a:xfrm>
          </p:grpSpPr>
          <p:sp>
            <p:nvSpPr>
              <p:cNvPr id="237" name="Google Shape;237;p20"/>
              <p:cNvSpPr txBox="1"/>
              <p:nvPr/>
            </p:nvSpPr>
            <p:spPr>
              <a:xfrm>
                <a:off x="0" y="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Negative</a:t>
                </a:r>
                <a:endParaRPr b="0" sz="14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1143000" y="38100"/>
                <a:ext cx="1905000" cy="1335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0"/>
              <p:cNvSpPr/>
              <p:nvPr/>
            </p:nvSpPr>
            <p:spPr>
              <a:xfrm>
                <a:off x="1143000" y="38100"/>
                <a:ext cx="262200" cy="1335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0"/>
              <p:cNvSpPr txBox="1"/>
              <p:nvPr/>
            </p:nvSpPr>
            <p:spPr>
              <a:xfrm>
                <a:off x="3143250" y="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13.77%</a:t>
                </a:r>
                <a:endParaRPr b="1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41" name="Google Shape;241;p20"/>
          <p:cNvGrpSpPr/>
          <p:nvPr/>
        </p:nvGrpSpPr>
        <p:grpSpPr>
          <a:xfrm>
            <a:off x="4667250" y="1238250"/>
            <a:ext cx="4095900" cy="3333900"/>
            <a:chOff x="0" y="0"/>
            <a:chExt cx="4095900" cy="3333900"/>
          </a:xfrm>
        </p:grpSpPr>
        <p:sp>
          <p:nvSpPr>
            <p:cNvPr id="242" name="Google Shape;242;p20"/>
            <p:cNvSpPr/>
            <p:nvPr/>
          </p:nvSpPr>
          <p:spPr>
            <a:xfrm>
              <a:off x="0" y="0"/>
              <a:ext cx="4095900" cy="33339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0" y="0"/>
              <a:ext cx="76200" cy="33339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304800" y="304800"/>
              <a:ext cx="3486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Deep Dive into Negative Feedback</a:t>
              </a:r>
              <a:endParaRPr b="1" sz="14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304800" y="666750"/>
              <a:ext cx="34863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5180">
                  <a:solidFill>
                    <a:srgbClr val="00A35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53.94%</a:t>
              </a:r>
              <a:endParaRPr b="0" sz="5180">
                <a:solidFill>
                  <a:srgbClr val="00A35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304800" y="1524000"/>
              <a:ext cx="3486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Negative Feedback Due to Late Delivery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304800" y="1905000"/>
              <a:ext cx="3486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" sz="13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By isolating the negative reviews, our Natural Language Processing models revealed that late delivery is the primary driver of dissatisfaction, accounting for exactly 53.94% of all negative feedback.</a:t>
              </a:r>
              <a:endParaRPr b="0" sz="1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381000" y="333375"/>
            <a:ext cx="609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Optimizing Delivery Time Prediction</a:t>
            </a:r>
            <a:endParaRPr b="1" sz="2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81000" y="1123950"/>
            <a:ext cx="8382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Accurate delivery estimates are critical for customer satisfaction. We trained and evaluated models on </a:t>
            </a:r>
            <a:r>
              <a:rPr b="1" lang="en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4,538 delivery records</a:t>
            </a:r>
            <a:r>
              <a:rPr b="0" lang="en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, comparing Linear Regression, Ridge, Random Forest, and Lasso.</a:t>
            </a:r>
            <a:endParaRPr b="0" sz="14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5" name="Google Shape;255;p21"/>
          <p:cNvGrpSpPr/>
          <p:nvPr/>
        </p:nvGrpSpPr>
        <p:grpSpPr>
          <a:xfrm>
            <a:off x="381000" y="1809750"/>
            <a:ext cx="8382150" cy="1447875"/>
            <a:chOff x="0" y="0"/>
            <a:chExt cx="8382150" cy="1447875"/>
          </a:xfrm>
        </p:grpSpPr>
        <p:grpSp>
          <p:nvGrpSpPr>
            <p:cNvPr id="256" name="Google Shape;256;p21"/>
            <p:cNvGrpSpPr/>
            <p:nvPr/>
          </p:nvGrpSpPr>
          <p:grpSpPr>
            <a:xfrm>
              <a:off x="0" y="0"/>
              <a:ext cx="2571900" cy="1447875"/>
              <a:chOff x="0" y="0"/>
              <a:chExt cx="2571900" cy="1447875"/>
            </a:xfrm>
          </p:grpSpPr>
          <p:sp>
            <p:nvSpPr>
              <p:cNvPr id="257" name="Google Shape;257;p21"/>
              <p:cNvSpPr txBox="1"/>
              <p:nvPr/>
            </p:nvSpPr>
            <p:spPr>
              <a:xfrm>
                <a:off x="0" y="0"/>
                <a:ext cx="2571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4080">
                    <a:solidFill>
                      <a:srgbClr val="11111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3.91</a:t>
                </a:r>
                <a:endParaRPr b="0" sz="408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0" y="714375"/>
                <a:ext cx="381000" cy="192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1"/>
              <p:cNvSpPr txBox="1"/>
              <p:nvPr/>
            </p:nvSpPr>
            <p:spPr>
              <a:xfrm>
                <a:off x="0" y="828675"/>
                <a:ext cx="2571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MAE (MINUTES)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Mean Absolute Error</a:t>
                </a:r>
                <a:endParaRPr b="0" sz="12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0" name="Google Shape;260;p21"/>
            <p:cNvGrpSpPr/>
            <p:nvPr/>
          </p:nvGrpSpPr>
          <p:grpSpPr>
            <a:xfrm>
              <a:off x="2905125" y="0"/>
              <a:ext cx="2571900" cy="1447875"/>
              <a:chOff x="0" y="0"/>
              <a:chExt cx="2571900" cy="1447875"/>
            </a:xfrm>
          </p:grpSpPr>
          <p:sp>
            <p:nvSpPr>
              <p:cNvPr id="261" name="Google Shape;261;p21"/>
              <p:cNvSpPr txBox="1"/>
              <p:nvPr/>
            </p:nvSpPr>
            <p:spPr>
              <a:xfrm>
                <a:off x="0" y="0"/>
                <a:ext cx="2571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4080">
                    <a:solidFill>
                      <a:srgbClr val="11111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5.02</a:t>
                </a:r>
                <a:endParaRPr b="0" sz="408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>
                <a:off x="0" y="714375"/>
                <a:ext cx="381000" cy="192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1"/>
              <p:cNvSpPr txBox="1"/>
              <p:nvPr/>
            </p:nvSpPr>
            <p:spPr>
              <a:xfrm>
                <a:off x="0" y="828675"/>
                <a:ext cx="2571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RMSE (MINUTES)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Root Mean Squared Error</a:t>
                </a:r>
                <a:endParaRPr b="0" sz="12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4" name="Google Shape;264;p21"/>
            <p:cNvGrpSpPr/>
            <p:nvPr/>
          </p:nvGrpSpPr>
          <p:grpSpPr>
            <a:xfrm>
              <a:off x="5810250" y="0"/>
              <a:ext cx="2571900" cy="1447875"/>
              <a:chOff x="0" y="0"/>
              <a:chExt cx="2571900" cy="1447875"/>
            </a:xfrm>
          </p:grpSpPr>
          <p:sp>
            <p:nvSpPr>
              <p:cNvPr id="265" name="Google Shape;265;p21"/>
              <p:cNvSpPr txBox="1"/>
              <p:nvPr/>
            </p:nvSpPr>
            <p:spPr>
              <a:xfrm>
                <a:off x="0" y="0"/>
                <a:ext cx="2571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4080">
                    <a:solidFill>
                      <a:srgbClr val="11111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0.912</a:t>
                </a:r>
                <a:endParaRPr b="0" sz="408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0" y="714375"/>
                <a:ext cx="381000" cy="192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1"/>
              <p:cNvSpPr txBox="1"/>
              <p:nvPr/>
            </p:nvSpPr>
            <p:spPr>
              <a:xfrm>
                <a:off x="0" y="828675"/>
                <a:ext cx="2571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R² SCORE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Goodness of Fit</a:t>
                </a:r>
                <a:endParaRPr b="0" sz="12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8" name="Google Shape;268;p21"/>
          <p:cNvGrpSpPr/>
          <p:nvPr/>
        </p:nvGrpSpPr>
        <p:grpSpPr>
          <a:xfrm>
            <a:off x="381000" y="3571875"/>
            <a:ext cx="8382000" cy="1095300"/>
            <a:chOff x="0" y="0"/>
            <a:chExt cx="8382000" cy="1095300"/>
          </a:xfrm>
        </p:grpSpPr>
        <p:sp>
          <p:nvSpPr>
            <p:cNvPr id="269" name="Google Shape;269;p21"/>
            <p:cNvSpPr/>
            <p:nvPr/>
          </p:nvSpPr>
          <p:spPr>
            <a:xfrm>
              <a:off x="0" y="0"/>
              <a:ext cx="8382000" cy="10953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0" y="0"/>
              <a:ext cx="76200" cy="10953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304800" y="190500"/>
              <a:ext cx="7772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MODEL PERFORMANCE (LASSO REGRESSION)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The Lasso model outperformed competitors, providing highly accurate predictions by effectively weighing key predictors and minimizing the impact of irrelevant features in the logistics data.</a:t>
              </a:r>
              <a:endParaRPr b="0" sz="13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/>
        </p:nvSpPr>
        <p:spPr>
          <a:xfrm>
            <a:off x="381000" y="304800"/>
            <a:ext cx="609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Hourly Order Demand Forecasting</a:t>
            </a:r>
            <a:endParaRPr b="1" sz="2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81000" y="93345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381000" y="11239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Anticipating platform traffic is essential for driver allocation. We analyzed </a:t>
            </a:r>
            <a:r>
              <a:rPr b="1" lang="en" sz="1203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4,343 hourly observations</a:t>
            </a:r>
            <a:r>
              <a:rPr b="0" lang="en" sz="1203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to forecast order volume.</a:t>
            </a:r>
            <a:endParaRPr b="0" sz="1203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9" name="Google Shape;279;p22"/>
          <p:cNvGrpSpPr/>
          <p:nvPr/>
        </p:nvGrpSpPr>
        <p:grpSpPr>
          <a:xfrm>
            <a:off x="381000" y="1638300"/>
            <a:ext cx="3714900" cy="1200300"/>
            <a:chOff x="381000" y="1638300"/>
            <a:chExt cx="3714900" cy="1200300"/>
          </a:xfrm>
        </p:grpSpPr>
        <p:sp>
          <p:nvSpPr>
            <p:cNvPr id="280" name="Google Shape;280;p22"/>
            <p:cNvSpPr txBox="1"/>
            <p:nvPr/>
          </p:nvSpPr>
          <p:spPr>
            <a:xfrm>
              <a:off x="381000" y="1638300"/>
              <a:ext cx="3714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MODEL COMPARISON</a:t>
              </a:r>
              <a:endParaRPr b="1" sz="11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381000" y="1905000"/>
              <a:ext cx="3714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We evaluated </a:t>
              </a:r>
              <a:r>
                <a:rPr b="1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ARIMA</a:t>
              </a: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Prophet</a:t>
              </a: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1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Seasonal Naive</a:t>
              </a: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models to capture temporal trends.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381000" y="2476500"/>
              <a:ext cx="1190700" cy="3621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381000" y="2476500"/>
              <a:ext cx="1190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ARIMA (Winning)</a:t>
              </a:r>
              <a:endParaRPr b="1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1666875" y="2476500"/>
              <a:ext cx="1000200" cy="3621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1666875" y="2476500"/>
              <a:ext cx="1000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Prophet</a:t>
              </a:r>
              <a:endParaRPr b="0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2762250" y="2476500"/>
              <a:ext cx="1333500" cy="3621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2762250" y="2476500"/>
              <a:ext cx="1333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Seasonal Naive</a:t>
              </a:r>
              <a:endParaRPr b="0" sz="11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88" name="Google Shape;288;p22"/>
          <p:cNvCxnSpPr/>
          <p:nvPr/>
        </p:nvCxnSpPr>
        <p:spPr>
          <a:xfrm>
            <a:off x="4333875" y="1638300"/>
            <a:ext cx="0" cy="13908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9" name="Google Shape;289;p22"/>
          <p:cNvGrpSpPr/>
          <p:nvPr/>
        </p:nvGrpSpPr>
        <p:grpSpPr>
          <a:xfrm>
            <a:off x="4572000" y="1638300"/>
            <a:ext cx="4191000" cy="1314450"/>
            <a:chOff x="4572000" y="1638300"/>
            <a:chExt cx="4191000" cy="1314450"/>
          </a:xfrm>
        </p:grpSpPr>
        <p:sp>
          <p:nvSpPr>
            <p:cNvPr id="290" name="Google Shape;290;p22"/>
            <p:cNvSpPr txBox="1"/>
            <p:nvPr/>
          </p:nvSpPr>
          <p:spPr>
            <a:xfrm>
              <a:off x="4572000" y="1638300"/>
              <a:ext cx="419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WINNING MODEL RESULTS (ARIMA)</a:t>
              </a:r>
              <a:endParaRPr b="1" sz="11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91" name="Google Shape;291;p22"/>
            <p:cNvGrpSpPr/>
            <p:nvPr/>
          </p:nvGrpSpPr>
          <p:grpSpPr>
            <a:xfrm>
              <a:off x="4572000" y="1905000"/>
              <a:ext cx="1905000" cy="1047750"/>
              <a:chOff x="0" y="0"/>
              <a:chExt cx="1905000" cy="1047750"/>
            </a:xfrm>
          </p:grpSpPr>
          <p:sp>
            <p:nvSpPr>
              <p:cNvPr id="292" name="Google Shape;292;p22"/>
              <p:cNvSpPr txBox="1"/>
              <p:nvPr/>
            </p:nvSpPr>
            <p:spPr>
              <a:xfrm>
                <a:off x="0" y="0"/>
                <a:ext cx="1905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400">
                    <a:solidFill>
                      <a:srgbClr val="11111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0.8018</a:t>
                </a:r>
                <a:endParaRPr b="0" sz="3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293" name="Google Shape;293;p22"/>
              <p:cNvSpPr/>
              <p:nvPr/>
            </p:nvSpPr>
            <p:spPr>
              <a:xfrm>
                <a:off x="0" y="571500"/>
                <a:ext cx="333300" cy="192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2"/>
              <p:cNvSpPr txBox="1"/>
              <p:nvPr/>
            </p:nvSpPr>
            <p:spPr>
              <a:xfrm>
                <a:off x="0" y="6667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Mean Absolute Error</a:t>
                </a:r>
                <a:br>
                  <a:rPr b="0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0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(MAE)</a:t>
                </a:r>
                <a:endParaRPr b="0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5" name="Google Shape;295;p22"/>
            <p:cNvGrpSpPr/>
            <p:nvPr/>
          </p:nvGrpSpPr>
          <p:grpSpPr>
            <a:xfrm>
              <a:off x="6667500" y="1905000"/>
              <a:ext cx="2095500" cy="1047750"/>
              <a:chOff x="0" y="0"/>
              <a:chExt cx="2095500" cy="1047750"/>
            </a:xfrm>
          </p:grpSpPr>
          <p:sp>
            <p:nvSpPr>
              <p:cNvPr id="296" name="Google Shape;296;p22"/>
              <p:cNvSpPr txBox="1"/>
              <p:nvPr/>
            </p:nvSpPr>
            <p:spPr>
              <a:xfrm>
                <a:off x="0" y="0"/>
                <a:ext cx="1905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400">
                    <a:solidFill>
                      <a:srgbClr val="00A35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0.81%</a:t>
                </a:r>
                <a:endParaRPr b="0" sz="3400">
                  <a:solidFill>
                    <a:srgbClr val="00A355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0" y="571500"/>
                <a:ext cx="333300" cy="192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2"/>
              <p:cNvSpPr txBox="1"/>
              <p:nvPr/>
            </p:nvSpPr>
            <p:spPr>
              <a:xfrm>
                <a:off x="0" y="66675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Weighted Absolute Percentage Error</a:t>
                </a:r>
                <a:r>
                  <a:rPr b="0" lang="en" sz="10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 (WAPE)</a:t>
                </a:r>
                <a:endParaRPr b="0" sz="10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99" name="Google Shape;299;p22"/>
          <p:cNvGrpSpPr/>
          <p:nvPr/>
        </p:nvGrpSpPr>
        <p:grpSpPr>
          <a:xfrm>
            <a:off x="381000" y="3333750"/>
            <a:ext cx="8382000" cy="1143000"/>
            <a:chOff x="0" y="0"/>
            <a:chExt cx="8382000" cy="1143000"/>
          </a:xfrm>
        </p:grpSpPr>
        <p:sp>
          <p:nvSpPr>
            <p:cNvPr id="300" name="Google Shape;300;p22"/>
            <p:cNvSpPr/>
            <p:nvPr/>
          </p:nvSpPr>
          <p:spPr>
            <a:xfrm>
              <a:off x="0" y="0"/>
              <a:ext cx="8382000" cy="11430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0" y="0"/>
              <a:ext cx="57300" cy="11430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285750" y="209550"/>
              <a:ext cx="78105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Key Operational Impact</a:t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ARIMA demonstrated superior accuracy in predicting hourly fluctuations, providing a reliable foundation for dynamic pricing and proactive driver dispatching.</a:t>
              </a:r>
              <a:endParaRPr b="0" sz="13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381000" y="361950"/>
            <a:ext cx="552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1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Integrated Business Intelligence Workflow</a:t>
            </a:r>
            <a:endParaRPr b="1" sz="2015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381000" y="1143000"/>
            <a:ext cx="8382000" cy="857400"/>
            <a:chOff x="0" y="0"/>
            <a:chExt cx="8382000" cy="857400"/>
          </a:xfrm>
        </p:grpSpPr>
        <p:sp>
          <p:nvSpPr>
            <p:cNvPr id="311" name="Google Shape;311;p23"/>
            <p:cNvSpPr/>
            <p:nvPr/>
          </p:nvSpPr>
          <p:spPr>
            <a:xfrm>
              <a:off x="0" y="0"/>
              <a:ext cx="8382000" cy="8574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0" y="0"/>
              <a:ext cx="76200" cy="8574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304800" y="171450"/>
              <a:ext cx="7810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System Value Proposition</a:t>
              </a:r>
              <a:endParaRPr b="1" sz="93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true value of this system lies in its consolidation. We integrated the segmentation, sentiment, delivery prediction, and demand forecasting models into a single automated workflow.</a:t>
              </a:r>
              <a:endParaRPr b="0" sz="108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14" name="Google Shape;314;p23"/>
          <p:cNvSpPr txBox="1"/>
          <p:nvPr/>
        </p:nvSpPr>
        <p:spPr>
          <a:xfrm>
            <a:off x="381000" y="223837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rPr>
              <a:t>System Capabilities &amp; Pipeline Execution</a:t>
            </a:r>
            <a:endParaRPr b="1" sz="1200">
              <a:solidFill>
                <a:srgbClr val="00A3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15" name="Google Shape;315;p23"/>
          <p:cNvGrpSpPr/>
          <p:nvPr/>
        </p:nvGrpSpPr>
        <p:grpSpPr>
          <a:xfrm>
            <a:off x="381000" y="2619375"/>
            <a:ext cx="8382075" cy="2000100"/>
            <a:chOff x="0" y="0"/>
            <a:chExt cx="8382075" cy="2000100"/>
          </a:xfrm>
        </p:grpSpPr>
        <p:grpSp>
          <p:nvGrpSpPr>
            <p:cNvPr id="316" name="Google Shape;316;p23"/>
            <p:cNvGrpSpPr/>
            <p:nvPr/>
          </p:nvGrpSpPr>
          <p:grpSpPr>
            <a:xfrm>
              <a:off x="0" y="0"/>
              <a:ext cx="1952700" cy="2000100"/>
              <a:chOff x="0" y="0"/>
              <a:chExt cx="1952700" cy="2000100"/>
            </a:xfrm>
          </p:grpSpPr>
          <p:sp>
            <p:nvSpPr>
              <p:cNvPr id="317" name="Google Shape;317;p23"/>
              <p:cNvSpPr/>
              <p:nvPr/>
            </p:nvSpPr>
            <p:spPr>
              <a:xfrm>
                <a:off x="0" y="0"/>
                <a:ext cx="1952700" cy="20001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3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3"/>
              <p:cNvSpPr txBox="1"/>
              <p:nvPr/>
            </p:nvSpPr>
            <p:spPr>
              <a:xfrm>
                <a:off x="190500" y="190500"/>
                <a:ext cx="15717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000">
                    <a:solidFill>
                      <a:srgbClr val="00A35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</a:t>
                </a:r>
                <a:endParaRPr b="0" sz="2000">
                  <a:solidFill>
                    <a:srgbClr val="00A355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Data Ingestion</a:t>
                </a:r>
                <a:endParaRPr b="1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Ingests real-time operational data.</a:t>
                </a:r>
                <a:endParaRPr b="0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2143125" y="0"/>
              <a:ext cx="1952700" cy="2000100"/>
              <a:chOff x="0" y="0"/>
              <a:chExt cx="1952700" cy="2000100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0" y="0"/>
                <a:ext cx="1952700" cy="20001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3"/>
              <p:cNvSpPr txBox="1"/>
              <p:nvPr/>
            </p:nvSpPr>
            <p:spPr>
              <a:xfrm>
                <a:off x="190500" y="190500"/>
                <a:ext cx="15717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000">
                    <a:solidFill>
                      <a:srgbClr val="00A35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</a:t>
                </a:r>
                <a:endParaRPr b="0" sz="2000">
                  <a:solidFill>
                    <a:srgbClr val="00A355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ML Pipeline</a:t>
                </a:r>
                <a:endParaRPr b="1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Processes inputs through the unified machine learning pipeline.</a:t>
                </a:r>
                <a:endParaRPr b="0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4" name="Google Shape;324;p23"/>
            <p:cNvGrpSpPr/>
            <p:nvPr/>
          </p:nvGrpSpPr>
          <p:grpSpPr>
            <a:xfrm>
              <a:off x="4286250" y="0"/>
              <a:ext cx="1952700" cy="2000100"/>
              <a:chOff x="0" y="0"/>
              <a:chExt cx="1952700" cy="2000100"/>
            </a:xfrm>
          </p:grpSpPr>
          <p:sp>
            <p:nvSpPr>
              <p:cNvPr id="325" name="Google Shape;325;p23"/>
              <p:cNvSpPr/>
              <p:nvPr/>
            </p:nvSpPr>
            <p:spPr>
              <a:xfrm>
                <a:off x="0" y="0"/>
                <a:ext cx="1952700" cy="20001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3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3"/>
              <p:cNvSpPr txBox="1"/>
              <p:nvPr/>
            </p:nvSpPr>
            <p:spPr>
              <a:xfrm>
                <a:off x="190500" y="190500"/>
                <a:ext cx="15717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000">
                    <a:solidFill>
                      <a:srgbClr val="00A35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</a:t>
                </a:r>
                <a:endParaRPr b="0" sz="2000">
                  <a:solidFill>
                    <a:srgbClr val="00A355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Automated Reporting</a:t>
                </a:r>
                <a:endParaRPr b="1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Generates comprehensive, automated reports.</a:t>
                </a:r>
                <a:endParaRPr b="0" sz="11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8" name="Google Shape;328;p23"/>
            <p:cNvGrpSpPr/>
            <p:nvPr/>
          </p:nvGrpSpPr>
          <p:grpSpPr>
            <a:xfrm>
              <a:off x="6429375" y="0"/>
              <a:ext cx="1952700" cy="2000100"/>
              <a:chOff x="0" y="0"/>
              <a:chExt cx="1952700" cy="2000100"/>
            </a:xfrm>
          </p:grpSpPr>
          <p:sp>
            <p:nvSpPr>
              <p:cNvPr id="329" name="Google Shape;329;p23"/>
              <p:cNvSpPr/>
              <p:nvPr/>
            </p:nvSpPr>
            <p:spPr>
              <a:xfrm>
                <a:off x="0" y="0"/>
                <a:ext cx="1952700" cy="2000100"/>
              </a:xfrm>
              <a:prstGeom prst="rect">
                <a:avLst/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3"/>
              <p:cNvSpPr/>
              <p:nvPr/>
            </p:nvSpPr>
            <p:spPr>
              <a:xfrm>
                <a:off x="0" y="0"/>
                <a:ext cx="1952700" cy="381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3"/>
              <p:cNvSpPr txBox="1"/>
              <p:nvPr/>
            </p:nvSpPr>
            <p:spPr>
              <a:xfrm>
                <a:off x="190500" y="190500"/>
                <a:ext cx="15717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50">
                    <a:solidFill>
                      <a:srgbClr val="00A35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04</a:t>
                </a:r>
                <a:endParaRPr b="0" sz="1850">
                  <a:solidFill>
                    <a:srgbClr val="00A355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203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Executive Dashboards</a:t>
                </a:r>
                <a:endParaRPr b="1" sz="1203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555555"/>
                    </a:solidFill>
                    <a:latin typeface="Inter"/>
                    <a:ea typeface="Inter"/>
                    <a:cs typeface="Inter"/>
                    <a:sym typeface="Inter"/>
                  </a:rPr>
                  <a:t>Translates complex model outputs into accessible dashboards for non-technical stakeholders.</a:t>
                </a:r>
                <a:endParaRPr b="0" sz="1018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/>
          <p:nvPr/>
        </p:nvSpPr>
        <p:spPr>
          <a:xfrm>
            <a:off x="381000" y="1095375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55555"/>
                </a:solidFill>
                <a:latin typeface="Inter Medium"/>
                <a:ea typeface="Inter Medium"/>
                <a:cs typeface="Inter Medium"/>
                <a:sym typeface="Inter Medium"/>
              </a:rPr>
              <a:t>Based on our model outputs, we propose the following actionable strategies:</a:t>
            </a:r>
            <a:endParaRPr b="0" sz="1400">
              <a:solidFill>
                <a:srgbClr val="555555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37" name="Google Shape;337;p24"/>
          <p:cNvGrpSpPr/>
          <p:nvPr/>
        </p:nvGrpSpPr>
        <p:grpSpPr>
          <a:xfrm>
            <a:off x="381000" y="1571625"/>
            <a:ext cx="4048200" cy="1428900"/>
            <a:chOff x="0" y="0"/>
            <a:chExt cx="4048200" cy="1428900"/>
          </a:xfrm>
        </p:grpSpPr>
        <p:sp>
          <p:nvSpPr>
            <p:cNvPr id="338" name="Google Shape;338;p24"/>
            <p:cNvSpPr/>
            <p:nvPr/>
          </p:nvSpPr>
          <p:spPr>
            <a:xfrm>
              <a:off x="0" y="0"/>
              <a:ext cx="4048200" cy="14289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0" y="0"/>
              <a:ext cx="57300" cy="14289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228600" y="1905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01.</a:t>
              </a:r>
              <a:r>
                <a:rPr b="1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Customer Retention</a:t>
              </a:r>
              <a:endParaRPr b="1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Target the high-frequency customer cluster with loyalty programs to maximize lifetime value.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1" name="Google Shape;341;p24"/>
          <p:cNvGrpSpPr/>
          <p:nvPr/>
        </p:nvGrpSpPr>
        <p:grpSpPr>
          <a:xfrm>
            <a:off x="4714875" y="1571625"/>
            <a:ext cx="4048200" cy="1428900"/>
            <a:chOff x="0" y="0"/>
            <a:chExt cx="4048200" cy="1428900"/>
          </a:xfrm>
        </p:grpSpPr>
        <p:sp>
          <p:nvSpPr>
            <p:cNvPr id="342" name="Google Shape;342;p24"/>
            <p:cNvSpPr/>
            <p:nvPr/>
          </p:nvSpPr>
          <p:spPr>
            <a:xfrm>
              <a:off x="0" y="0"/>
              <a:ext cx="4048200" cy="14289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0" y="0"/>
              <a:ext cx="57300" cy="14289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228600" y="1905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02.</a:t>
              </a:r>
              <a:r>
                <a:rPr b="1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Restaurant Efficiency</a:t>
              </a:r>
              <a:endParaRPr b="1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Provide operational interventions for the lower-performing restaurant cluster to reduce preparation times.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5" name="Google Shape;345;p24"/>
          <p:cNvGrpSpPr/>
          <p:nvPr/>
        </p:nvGrpSpPr>
        <p:grpSpPr>
          <a:xfrm>
            <a:off x="381000" y="3190875"/>
            <a:ext cx="4048200" cy="1428900"/>
            <a:chOff x="0" y="0"/>
            <a:chExt cx="4048200" cy="1428900"/>
          </a:xfrm>
        </p:grpSpPr>
        <p:sp>
          <p:nvSpPr>
            <p:cNvPr id="346" name="Google Shape;346;p24"/>
            <p:cNvSpPr/>
            <p:nvPr/>
          </p:nvSpPr>
          <p:spPr>
            <a:xfrm>
              <a:off x="0" y="0"/>
              <a:ext cx="4048200" cy="14289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0" y="0"/>
              <a:ext cx="57300" cy="14289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4"/>
            <p:cNvSpPr txBox="1"/>
            <p:nvPr/>
          </p:nvSpPr>
          <p:spPr>
            <a:xfrm>
              <a:off x="228600" y="1905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03.</a:t>
              </a:r>
              <a:r>
                <a:rPr b="1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Delivery Operations</a:t>
              </a:r>
              <a:endParaRPr b="1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Implement the Lasso prediction model in the app UI to set realistic customer expectations and mitigate the </a:t>
              </a:r>
              <a:r>
                <a:rPr b="1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53.94%</a:t>
              </a: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of complaints tied to lateness.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9" name="Google Shape;349;p24"/>
          <p:cNvGrpSpPr/>
          <p:nvPr/>
        </p:nvGrpSpPr>
        <p:grpSpPr>
          <a:xfrm>
            <a:off x="4714875" y="3190875"/>
            <a:ext cx="4048200" cy="1428900"/>
            <a:chOff x="0" y="0"/>
            <a:chExt cx="4048200" cy="1428900"/>
          </a:xfrm>
        </p:grpSpPr>
        <p:sp>
          <p:nvSpPr>
            <p:cNvPr id="350" name="Google Shape;350;p24"/>
            <p:cNvSpPr/>
            <p:nvPr/>
          </p:nvSpPr>
          <p:spPr>
            <a:xfrm>
              <a:off x="0" y="0"/>
              <a:ext cx="4048200" cy="14289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0" y="0"/>
              <a:ext cx="57300" cy="14289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228600" y="1905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04.</a:t>
              </a:r>
              <a:r>
                <a:rPr b="1" lang="en" sz="13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Demand Planning</a:t>
              </a:r>
              <a:endParaRPr b="1" sz="13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Utilize the ARIMA forecasts to incentivize drivers during predicted high-demand hours.</a:t>
              </a:r>
              <a:endParaRPr b="0" sz="12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381000" y="285750"/>
            <a:ext cx="8420100" cy="685950"/>
            <a:chOff x="381000" y="285750"/>
            <a:chExt cx="8420100" cy="685950"/>
          </a:xfrm>
        </p:grpSpPr>
        <p:sp>
          <p:nvSpPr>
            <p:cNvPr id="354" name="Google Shape;354;p24"/>
            <p:cNvSpPr txBox="1"/>
            <p:nvPr/>
          </p:nvSpPr>
          <p:spPr>
            <a:xfrm>
              <a:off x="381000" y="285750"/>
              <a:ext cx="600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Key Business Insights and Recommendations</a:t>
              </a:r>
              <a:endParaRPr b="1" sz="20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6705600" y="400050"/>
              <a:ext cx="209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381000" y="95250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24"/>
          <p:cNvSpPr/>
          <p:nvPr/>
        </p:nvSpPr>
        <p:spPr>
          <a:xfrm>
            <a:off x="8524875" y="4714875"/>
            <a:ext cx="95400" cy="95400"/>
          </a:xfrm>
          <a:custGeom>
            <a:rect b="b" l="l" r="r" t="t"/>
            <a:pathLst>
              <a:path extrusionOk="0" h="120000" w="120000">
                <a:moveTo>
                  <a:pt x="48000" y="0"/>
                </a:moveTo>
                <a:lnTo>
                  <a:pt x="72000" y="0"/>
                </a:lnTo>
                <a:lnTo>
                  <a:pt x="72000" y="120000"/>
                </a:lnTo>
                <a:lnTo>
                  <a:pt x="48000" y="120000"/>
                </a:lnTo>
                <a:close/>
                <a:moveTo>
                  <a:pt x="0" y="48000"/>
                </a:moveTo>
                <a:lnTo>
                  <a:pt x="120000" y="48000"/>
                </a:lnTo>
                <a:lnTo>
                  <a:pt x="120000" y="72000"/>
                </a:lnTo>
                <a:lnTo>
                  <a:pt x="0" y="72000"/>
                </a:lnTo>
                <a:close/>
              </a:path>
            </a:pathLst>
          </a:custGeom>
          <a:solidFill>
            <a:srgbClr val="D0D0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5"/>
          <p:cNvGrpSpPr/>
          <p:nvPr/>
        </p:nvGrpSpPr>
        <p:grpSpPr>
          <a:xfrm>
            <a:off x="0" y="0"/>
            <a:ext cx="9753600" cy="5143500"/>
            <a:chOff x="0" y="0"/>
            <a:chExt cx="9753600" cy="5143500"/>
          </a:xfrm>
        </p:grpSpPr>
        <p:sp>
          <p:nvSpPr>
            <p:cNvPr id="363" name="Google Shape;363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 txBox="1"/>
            <p:nvPr/>
          </p:nvSpPr>
          <p:spPr>
            <a:xfrm>
              <a:off x="6896100" y="3810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381000" y="95250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" name="Google Shape;366;p25"/>
          <p:cNvSpPr txBox="1"/>
          <p:nvPr/>
        </p:nvSpPr>
        <p:spPr>
          <a:xfrm>
            <a:off x="381000" y="304800"/>
            <a:ext cx="609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Technology Stack and Project Structure</a:t>
            </a:r>
            <a:endParaRPr b="1" sz="2405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381000" y="11049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119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This project relies on a modern, Python-centric data science ecosystem organized into a clean repository structure.</a:t>
            </a:r>
            <a:endParaRPr b="0" sz="119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381000" y="1600200"/>
            <a:ext cx="40005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Technology by Domain</a:t>
            </a:r>
            <a:endParaRPr b="0" sz="1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 Manipulation:</a:t>
            </a: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Pandas, NumPy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Machine Learning &amp; NLP:</a:t>
            </a: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Scikit-learn, NLTK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Time Series Forecasting:</a:t>
            </a: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Statsmodels (ARIMA), Prophet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900"/>
              </a:spcAft>
              <a:buClr>
                <a:srgbClr val="111111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 Visualization:</a:t>
            </a: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Matplotlib, Seaborn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4762500" y="1600200"/>
            <a:ext cx="40005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Repository Layout</a:t>
            </a:r>
            <a:endParaRPr b="0" sz="16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project is organized into distinct folders for Data, Notebooks, Models, and Reports, ensuring reproducibility and easy onboarding for future developers.</a:t>
            </a:r>
            <a:endParaRPr b="0" sz="14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75" name="Google Shape;375;p2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 txBox="1"/>
            <p:nvPr/>
          </p:nvSpPr>
          <p:spPr>
            <a:xfrm>
              <a:off x="6134100" y="3810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381000" y="95250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6"/>
          <p:cNvSpPr txBox="1"/>
          <p:nvPr/>
        </p:nvSpPr>
        <p:spPr>
          <a:xfrm>
            <a:off x="381000" y="381000"/>
            <a:ext cx="5334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Limitations &amp; Future Improvements</a:t>
            </a:r>
            <a:endParaRPr b="1" sz="2405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381000" y="1143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1203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While the system demonstrates strong predictive capabilities, we acknowledge certain constraints and outline a roadmap for deployment.</a:t>
            </a:r>
            <a:endParaRPr b="0" sz="1203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0" name="Google Shape;380;p26"/>
          <p:cNvGrpSpPr/>
          <p:nvPr/>
        </p:nvGrpSpPr>
        <p:grpSpPr>
          <a:xfrm>
            <a:off x="381000" y="1666875"/>
            <a:ext cx="8382000" cy="3057600"/>
            <a:chOff x="0" y="0"/>
            <a:chExt cx="8382000" cy="3057600"/>
          </a:xfrm>
        </p:grpSpPr>
        <p:grpSp>
          <p:nvGrpSpPr>
            <p:cNvPr id="381" name="Google Shape;381;p26"/>
            <p:cNvGrpSpPr/>
            <p:nvPr/>
          </p:nvGrpSpPr>
          <p:grpSpPr>
            <a:xfrm>
              <a:off x="0" y="0"/>
              <a:ext cx="4000500" cy="3057600"/>
              <a:chOff x="0" y="0"/>
              <a:chExt cx="4000500" cy="3057600"/>
            </a:xfrm>
          </p:grpSpPr>
          <p:sp>
            <p:nvSpPr>
              <p:cNvPr id="382" name="Google Shape;382;p26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6"/>
              <p:cNvSpPr txBox="1"/>
              <p:nvPr/>
            </p:nvSpPr>
            <p:spPr>
              <a:xfrm>
                <a:off x="0" y="152400"/>
                <a:ext cx="4000500" cy="29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Current Limitations</a:t>
                </a:r>
                <a:endParaRPr b="1" sz="16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Inter"/>
                  <a:buChar char="●"/>
                </a:pP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The models are trained on synthetic data, which may not capture unpredictable real-world anomalies.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111111"/>
                  </a:buClr>
                  <a:buSzPts val="1400"/>
                  <a:buFont typeface="Inter"/>
                  <a:buChar char="●"/>
                </a:pP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Model evaluation metrics require validation against live production data.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4" name="Google Shape;384;p26"/>
            <p:cNvGrpSpPr/>
            <p:nvPr/>
          </p:nvGrpSpPr>
          <p:grpSpPr>
            <a:xfrm>
              <a:off x="4381500" y="0"/>
              <a:ext cx="4000500" cy="3057600"/>
              <a:chOff x="0" y="0"/>
              <a:chExt cx="4000500" cy="3057600"/>
            </a:xfrm>
          </p:grpSpPr>
          <p:sp>
            <p:nvSpPr>
              <p:cNvPr id="385" name="Google Shape;385;p26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00A3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6"/>
              <p:cNvSpPr txBox="1"/>
              <p:nvPr/>
            </p:nvSpPr>
            <p:spPr>
              <a:xfrm>
                <a:off x="0" y="152400"/>
                <a:ext cx="4000500" cy="29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Roadmap for Real-World Deployment</a:t>
                </a:r>
                <a:endParaRPr b="1" sz="16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Inter"/>
                  <a:buChar char="●"/>
                </a:pP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A/B testing the delivery prediction model in a live, localized market.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11111"/>
                  </a:buClr>
                  <a:buSzPts val="1400"/>
                  <a:buFont typeface="Inter"/>
                  <a:buChar char="●"/>
                </a:pP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Integrating real-time API data feeds to replace static datasets.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900"/>
                  </a:spcAft>
                  <a:buClr>
                    <a:srgbClr val="111111"/>
                  </a:buClr>
                  <a:buSzPts val="1400"/>
                  <a:buFont typeface="Inter"/>
                  <a:buChar char="●"/>
                </a:pPr>
                <a:r>
                  <a:rPr b="0" lang="en" sz="14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Expanding NLP capabilities to support multi-language sentiment analysis.</a:t>
                </a:r>
                <a:endParaRPr b="0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7"/>
          <p:cNvSpPr/>
          <p:nvPr/>
        </p:nvSpPr>
        <p:spPr>
          <a:xfrm>
            <a:off x="381000" y="9525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381000" y="304800"/>
            <a:ext cx="609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Conclusion: A Unified Operational Intelligence System</a:t>
            </a:r>
            <a:endParaRPr b="1" sz="186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27"/>
          <p:cNvSpPr txBox="1"/>
          <p:nvPr/>
        </p:nvSpPr>
        <p:spPr>
          <a:xfrm>
            <a:off x="381000" y="1123950"/>
            <a:ext cx="838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This capstone successfully engineered a comprehensive intelligence system for food delivery platforms.</a:t>
            </a:r>
            <a:endParaRPr b="0" sz="1295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381000" y="16002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rPr>
              <a:t>KEY ACHIEVEMENTS</a:t>
            </a:r>
            <a:endParaRPr b="1" sz="1100">
              <a:solidFill>
                <a:srgbClr val="00A3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6" name="Google Shape;396;p27"/>
          <p:cNvGrpSpPr/>
          <p:nvPr/>
        </p:nvGrpSpPr>
        <p:grpSpPr>
          <a:xfrm>
            <a:off x="413385" y="1924050"/>
            <a:ext cx="8349615" cy="381000"/>
            <a:chOff x="32385" y="0"/>
            <a:chExt cx="8349615" cy="381000"/>
          </a:xfrm>
        </p:grpSpPr>
        <p:sp>
          <p:nvSpPr>
            <p:cNvPr id="397" name="Google Shape;397;p27"/>
            <p:cNvSpPr/>
            <p:nvPr/>
          </p:nvSpPr>
          <p:spPr>
            <a:xfrm>
              <a:off x="32385" y="53340"/>
              <a:ext cx="167700" cy="127500"/>
            </a:xfrm>
            <a:custGeom>
              <a:rect b="b" l="l" r="r" t="t"/>
              <a:pathLst>
                <a:path extrusionOk="0" h="120000" w="120000">
                  <a:moveTo>
                    <a:pt x="38182" y="94925"/>
                  </a:moveTo>
                  <a:lnTo>
                    <a:pt x="9545" y="57313"/>
                  </a:lnTo>
                  <a:lnTo>
                    <a:pt x="0" y="69851"/>
                  </a:lnTo>
                  <a:lnTo>
                    <a:pt x="38182" y="120000"/>
                  </a:lnTo>
                  <a:lnTo>
                    <a:pt x="120000" y="12537"/>
                  </a:lnTo>
                  <a:lnTo>
                    <a:pt x="110455" y="0"/>
                  </a:lnTo>
                  <a:lnTo>
                    <a:pt x="38182" y="94925"/>
                  </a:lnTo>
                  <a:close/>
                </a:path>
              </a:pathLst>
            </a:cu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 txBox="1"/>
            <p:nvPr/>
          </p:nvSpPr>
          <p:spPr>
            <a:xfrm>
              <a:off x="304800" y="0"/>
              <a:ext cx="807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Processed over </a:t>
              </a: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19,000 records</a:t>
              </a: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to extract actionable insights.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9" name="Google Shape;399;p27"/>
          <p:cNvGrpSpPr/>
          <p:nvPr/>
        </p:nvGrpSpPr>
        <p:grpSpPr>
          <a:xfrm>
            <a:off x="413385" y="2381250"/>
            <a:ext cx="8349615" cy="381000"/>
            <a:chOff x="32385" y="0"/>
            <a:chExt cx="8349615" cy="381000"/>
          </a:xfrm>
        </p:grpSpPr>
        <p:sp>
          <p:nvSpPr>
            <p:cNvPr id="400" name="Google Shape;400;p27"/>
            <p:cNvSpPr/>
            <p:nvPr/>
          </p:nvSpPr>
          <p:spPr>
            <a:xfrm>
              <a:off x="32385" y="53340"/>
              <a:ext cx="167700" cy="127500"/>
            </a:xfrm>
            <a:custGeom>
              <a:rect b="b" l="l" r="r" t="t"/>
              <a:pathLst>
                <a:path extrusionOk="0" h="120000" w="120000">
                  <a:moveTo>
                    <a:pt x="38182" y="94925"/>
                  </a:moveTo>
                  <a:lnTo>
                    <a:pt x="9545" y="57313"/>
                  </a:lnTo>
                  <a:lnTo>
                    <a:pt x="0" y="69851"/>
                  </a:lnTo>
                  <a:lnTo>
                    <a:pt x="38182" y="120000"/>
                  </a:lnTo>
                  <a:lnTo>
                    <a:pt x="120000" y="12537"/>
                  </a:lnTo>
                  <a:lnTo>
                    <a:pt x="110455" y="0"/>
                  </a:lnTo>
                  <a:lnTo>
                    <a:pt x="38182" y="94925"/>
                  </a:lnTo>
                  <a:close/>
                </a:path>
              </a:pathLst>
            </a:cu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 txBox="1"/>
            <p:nvPr/>
          </p:nvSpPr>
          <p:spPr>
            <a:xfrm>
              <a:off x="304800" y="0"/>
              <a:ext cx="8077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Identified that late deliveries drive </a:t>
              </a: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53.94% of negative sentiment</a:t>
              </a: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2" name="Google Shape;402;p27"/>
          <p:cNvGrpSpPr/>
          <p:nvPr/>
        </p:nvGrpSpPr>
        <p:grpSpPr>
          <a:xfrm>
            <a:off x="413385" y="2838450"/>
            <a:ext cx="8349615" cy="428700"/>
            <a:chOff x="32385" y="0"/>
            <a:chExt cx="8349615" cy="428700"/>
          </a:xfrm>
        </p:grpSpPr>
        <p:sp>
          <p:nvSpPr>
            <p:cNvPr id="403" name="Google Shape;403;p27"/>
            <p:cNvSpPr/>
            <p:nvPr/>
          </p:nvSpPr>
          <p:spPr>
            <a:xfrm>
              <a:off x="32385" y="53340"/>
              <a:ext cx="167700" cy="127500"/>
            </a:xfrm>
            <a:custGeom>
              <a:rect b="b" l="l" r="r" t="t"/>
              <a:pathLst>
                <a:path extrusionOk="0" h="120000" w="120000">
                  <a:moveTo>
                    <a:pt x="38182" y="94925"/>
                  </a:moveTo>
                  <a:lnTo>
                    <a:pt x="9545" y="57313"/>
                  </a:lnTo>
                  <a:lnTo>
                    <a:pt x="0" y="69851"/>
                  </a:lnTo>
                  <a:lnTo>
                    <a:pt x="38182" y="120000"/>
                  </a:lnTo>
                  <a:lnTo>
                    <a:pt x="120000" y="12537"/>
                  </a:lnTo>
                  <a:lnTo>
                    <a:pt x="110455" y="0"/>
                  </a:lnTo>
                  <a:lnTo>
                    <a:pt x="38182" y="94925"/>
                  </a:lnTo>
                  <a:close/>
                </a:path>
              </a:pathLst>
            </a:cu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7"/>
            <p:cNvSpPr txBox="1"/>
            <p:nvPr/>
          </p:nvSpPr>
          <p:spPr>
            <a:xfrm>
              <a:off x="304800" y="0"/>
              <a:ext cx="8077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Achieved highly accurate delivery predictions (</a:t>
              </a: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MAE 3.91 min</a:t>
              </a: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) and demand forecasts (</a:t>
              </a: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WAPE 0.81%</a:t>
              </a:r>
              <a:r>
                <a:rPr b="0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4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27"/>
          <p:cNvGrpSpPr/>
          <p:nvPr/>
        </p:nvGrpSpPr>
        <p:grpSpPr>
          <a:xfrm>
            <a:off x="381000" y="3505200"/>
            <a:ext cx="8382000" cy="1143000"/>
            <a:chOff x="0" y="0"/>
            <a:chExt cx="8382000" cy="1143000"/>
          </a:xfrm>
        </p:grpSpPr>
        <p:sp>
          <p:nvSpPr>
            <p:cNvPr id="406" name="Google Shape;406;p27"/>
            <p:cNvSpPr/>
            <p:nvPr/>
          </p:nvSpPr>
          <p:spPr>
            <a:xfrm>
              <a:off x="0" y="0"/>
              <a:ext cx="8382000" cy="11430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0" y="0"/>
              <a:ext cx="76200" cy="11430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7"/>
            <p:cNvSpPr txBox="1"/>
            <p:nvPr/>
          </p:nvSpPr>
          <p:spPr>
            <a:xfrm>
              <a:off x="304800" y="209550"/>
              <a:ext cx="7772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A355"/>
                  </a:solidFill>
                  <a:latin typeface="Inter"/>
                  <a:ea typeface="Inter"/>
                  <a:cs typeface="Inter"/>
                  <a:sym typeface="Inter"/>
                </a:rPr>
                <a:t>FINAL TAKEAWAY</a:t>
              </a:r>
              <a:endParaRPr b="1" sz="1100">
                <a:solidFill>
                  <a:srgbClr val="00A3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By integrating advanced machine learning with strategic business logic, this system provides a scalable blueprint for optimizing platform efficiency and enhancing customer satisfaction.</a:t>
              </a:r>
              <a:endParaRPr b="0" sz="13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2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14" name="Google Shape;414;p2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5" name="Google Shape;415;p28"/>
            <p:cNvGrpSpPr/>
            <p:nvPr/>
          </p:nvGrpSpPr>
          <p:grpSpPr>
            <a:xfrm>
              <a:off x="381000" y="381000"/>
              <a:ext cx="476400" cy="476400"/>
              <a:chOff x="0" y="0"/>
              <a:chExt cx="476400" cy="476400"/>
            </a:xfrm>
          </p:grpSpPr>
          <p:sp>
            <p:nvSpPr>
              <p:cNvPr id="416" name="Google Shape;416;p28"/>
              <p:cNvSpPr/>
              <p:nvPr/>
            </p:nvSpPr>
            <p:spPr>
              <a:xfrm>
                <a:off x="0" y="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8"/>
              <p:cNvSpPr/>
              <p:nvPr/>
            </p:nvSpPr>
            <p:spPr>
              <a:xfrm>
                <a:off x="381000" y="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0" y="38100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381000" y="38100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48000" y="0"/>
                    </a:moveTo>
                    <a:lnTo>
                      <a:pt x="72000" y="0"/>
                    </a:lnTo>
                    <a:lnTo>
                      <a:pt x="72000" y="120000"/>
                    </a:lnTo>
                    <a:lnTo>
                      <a:pt x="48000" y="120000"/>
                    </a:lnTo>
                    <a:close/>
                    <a:moveTo>
                      <a:pt x="0" y="48000"/>
                    </a:moveTo>
                    <a:lnTo>
                      <a:pt x="120000" y="48000"/>
                    </a:lnTo>
                    <a:lnTo>
                      <a:pt x="120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0" name="Google Shape;420;p28"/>
            <p:cNvSpPr txBox="1"/>
            <p:nvPr/>
          </p:nvSpPr>
          <p:spPr>
            <a:xfrm>
              <a:off x="6134100" y="3810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381000" y="2238375"/>
              <a:ext cx="762000" cy="38100"/>
            </a:xfrm>
            <a:prstGeom prst="rect">
              <a:avLst/>
            </a:prstGeom>
            <a:solidFill>
              <a:srgbClr val="00A3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" name="Google Shape;422;p28"/>
          <p:cNvSpPr txBox="1"/>
          <p:nvPr/>
        </p:nvSpPr>
        <p:spPr>
          <a:xfrm>
            <a:off x="381000" y="1047750"/>
            <a:ext cx="8382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420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381000" y="24288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>
              <a:solidFill>
                <a:srgbClr val="11111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24" name="Google Shape;424;p28"/>
          <p:cNvGrpSpPr/>
          <p:nvPr/>
        </p:nvGrpSpPr>
        <p:grpSpPr>
          <a:xfrm>
            <a:off x="381000" y="3429000"/>
            <a:ext cx="4953000" cy="714300"/>
            <a:chOff x="0" y="0"/>
            <a:chExt cx="4953000" cy="714300"/>
          </a:xfrm>
        </p:grpSpPr>
        <p:sp>
          <p:nvSpPr>
            <p:cNvPr id="425" name="Google Shape;425;p28"/>
            <p:cNvSpPr/>
            <p:nvPr/>
          </p:nvSpPr>
          <p:spPr>
            <a:xfrm>
              <a:off x="0" y="0"/>
              <a:ext cx="19200" cy="7143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8"/>
            <p:cNvSpPr txBox="1"/>
            <p:nvPr/>
          </p:nvSpPr>
          <p:spPr>
            <a:xfrm>
              <a:off x="190500" y="47625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Presenter: </a:t>
              </a:r>
              <a:r>
                <a:rPr b="1" lang="en" sz="14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Manoj Keelukuppa</a:t>
              </a:r>
              <a:endParaRPr b="0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7" name="Google Shape;427;p28"/>
            <p:cNvSpPr txBox="1"/>
            <p:nvPr/>
          </p:nvSpPr>
          <p:spPr>
            <a:xfrm>
              <a:off x="190500" y="38100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Contact: </a:t>
              </a:r>
              <a:r>
                <a:rPr b="0" lang="en" sz="1400">
                  <a:solidFill>
                    <a:srgbClr val="00A3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manoj.keelukuppa@nineleaps.com</a:t>
              </a:r>
              <a:endParaRPr b="0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